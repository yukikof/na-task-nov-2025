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GB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39D2FF-2616-4E08-8CBD-9CF4875B88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GB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DE804E-5DEF-4AB0-9D66-415FE89656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GB" sz="3300" strike="noStrike" u="none">
                <a:solidFill>
                  <a:srgbClr val="050505"/>
                </a:solidFill>
                <a:uFillTx/>
                <a:latin typeface="Times New Roman"/>
              </a:rPr>
              <a:t>Click to edit the title text format</a:t>
            </a:r>
            <a:endParaRPr b="0" lang="en-GB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Click to edit the outline text format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100" strike="noStrike" u="none">
                <a:solidFill>
                  <a:srgbClr val="050505"/>
                </a:solidFill>
                <a:uFillTx/>
                <a:latin typeface="Arial"/>
              </a:rPr>
              <a:t>Second Outline Level</a:t>
            </a:r>
            <a:endParaRPr b="0" lang="en-GB" sz="21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50505"/>
                </a:solidFill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1500" strike="noStrike" u="none">
                <a:solidFill>
                  <a:srgbClr val="050505"/>
                </a:solidFill>
                <a:uFillTx/>
                <a:latin typeface="Arial"/>
              </a:rPr>
              <a:t>Fourth Outline Level</a:t>
            </a:r>
            <a:endParaRPr b="0" lang="en-GB" sz="15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1500" strike="noStrike" u="none">
                <a:solidFill>
                  <a:srgbClr val="050505"/>
                </a:solidFill>
                <a:uFillTx/>
                <a:latin typeface="Arial"/>
              </a:rPr>
              <a:t>Fifth Outline Level</a:t>
            </a:r>
            <a:endParaRPr b="0" lang="en-GB" sz="15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1500" strike="noStrike" u="none">
                <a:solidFill>
                  <a:srgbClr val="050505"/>
                </a:solidFill>
                <a:uFillTx/>
                <a:latin typeface="Arial"/>
              </a:rPr>
              <a:t>Sixth Outline Level</a:t>
            </a:r>
            <a:endParaRPr b="0" lang="en-GB" sz="15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1500" strike="noStrike" u="none">
                <a:solidFill>
                  <a:srgbClr val="050505"/>
                </a:solidFill>
                <a:uFillTx/>
                <a:latin typeface="Arial"/>
              </a:rPr>
              <a:t>Seventh Outline Level</a:t>
            </a:r>
            <a:endParaRPr b="0" lang="en-GB" sz="15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2ED3C0E3-82DE-486C-98E5-D1522A60353B}" type="slidenum">
              <a:rPr b="0" lang="en-GB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" name=""/>
          <p:cNvCxnSpPr>
            <a:stCxn id="6" idx="6"/>
            <a:endCxn id="7" idx="2"/>
          </p:cNvCxnSpPr>
          <p:nvPr/>
        </p:nvCxnSpPr>
        <p:spPr>
          <a:xfrm>
            <a:off x="540000" y="306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" name=""/>
          <p:cNvCxnSpPr>
            <a:stCxn id="9" idx="6"/>
            <a:endCxn id="10" idx="2"/>
          </p:cNvCxnSpPr>
          <p:nvPr/>
        </p:nvCxnSpPr>
        <p:spPr>
          <a:xfrm>
            <a:off x="720000" y="48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1" name=""/>
          <p:cNvCxnSpPr>
            <a:stCxn id="12" idx="6"/>
            <a:endCxn id="13" idx="2"/>
          </p:cNvCxnSpPr>
          <p:nvPr/>
        </p:nvCxnSpPr>
        <p:spPr>
          <a:xfrm>
            <a:off x="864000" y="702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4" name=""/>
          <p:cNvCxnSpPr>
            <a:stCxn id="15" idx="6"/>
            <a:endCxn id="16" idx="2"/>
          </p:cNvCxnSpPr>
          <p:nvPr/>
        </p:nvCxnSpPr>
        <p:spPr>
          <a:xfrm>
            <a:off x="720000" y="12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7" name=""/>
          <p:cNvCxnSpPr>
            <a:stCxn id="18" idx="6"/>
            <a:endCxn id="19" idx="2"/>
          </p:cNvCxnSpPr>
          <p:nvPr/>
        </p:nvCxnSpPr>
        <p:spPr>
          <a:xfrm>
            <a:off x="864000" y="954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0" name=""/>
          <p:cNvCxnSpPr>
            <a:stCxn id="21" idx="6"/>
            <a:endCxn id="22" idx="2"/>
          </p:cNvCxnSpPr>
          <p:nvPr/>
        </p:nvCxnSpPr>
        <p:spPr>
          <a:xfrm rot="10800000">
            <a:off x="540000" y="1350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3" name=""/>
          <p:cNvCxnSpPr>
            <a:stCxn id="24" idx="6"/>
            <a:endCxn id="25" idx="2"/>
          </p:cNvCxnSpPr>
          <p:nvPr/>
        </p:nvCxnSpPr>
        <p:spPr>
          <a:xfrm rot="10800000">
            <a:off x="720000" y="117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6" name=""/>
          <p:cNvCxnSpPr>
            <a:stCxn id="27" idx="6"/>
            <a:endCxn id="28" idx="2"/>
          </p:cNvCxnSpPr>
          <p:nvPr/>
        </p:nvCxnSpPr>
        <p:spPr>
          <a:xfrm rot="10800000">
            <a:off x="720000" y="153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9" name=""/>
          <p:cNvCxnSpPr>
            <a:stCxn id="30" idx="6"/>
            <a:endCxn id="31" idx="2"/>
          </p:cNvCxnSpPr>
          <p:nvPr/>
        </p:nvCxnSpPr>
        <p:spPr>
          <a:xfrm rot="10800000">
            <a:off x="864000" y="1746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2" name=""/>
          <p:cNvCxnSpPr>
            <a:stCxn id="33" idx="6"/>
            <a:endCxn id="34" idx="2"/>
          </p:cNvCxnSpPr>
          <p:nvPr/>
        </p:nvCxnSpPr>
        <p:spPr>
          <a:xfrm rot="10800000">
            <a:off x="864000" y="1998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5" name=""/>
          <p:cNvCxnSpPr>
            <a:stCxn id="36" idx="6"/>
            <a:endCxn id="37" idx="2"/>
          </p:cNvCxnSpPr>
          <p:nvPr/>
        </p:nvCxnSpPr>
        <p:spPr>
          <a:xfrm>
            <a:off x="540000" y="2394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8" name=""/>
          <p:cNvCxnSpPr>
            <a:stCxn id="39" idx="6"/>
            <a:endCxn id="40" idx="2"/>
          </p:cNvCxnSpPr>
          <p:nvPr/>
        </p:nvCxnSpPr>
        <p:spPr>
          <a:xfrm>
            <a:off x="720000" y="2214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1" name=""/>
          <p:cNvCxnSpPr>
            <a:stCxn id="42" idx="6"/>
            <a:endCxn id="43" idx="2"/>
          </p:cNvCxnSpPr>
          <p:nvPr/>
        </p:nvCxnSpPr>
        <p:spPr>
          <a:xfrm>
            <a:off x="720000" y="2583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4" name=""/>
          <p:cNvCxnSpPr>
            <a:stCxn id="45" idx="6"/>
            <a:endCxn id="46" idx="2"/>
          </p:cNvCxnSpPr>
          <p:nvPr/>
        </p:nvCxnSpPr>
        <p:spPr>
          <a:xfrm>
            <a:off x="864000" y="2799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7" name=""/>
          <p:cNvCxnSpPr>
            <a:stCxn id="48" idx="6"/>
            <a:endCxn id="49" idx="2"/>
          </p:cNvCxnSpPr>
          <p:nvPr/>
        </p:nvCxnSpPr>
        <p:spPr>
          <a:xfrm>
            <a:off x="864000" y="3051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0" name=""/>
          <p:cNvCxnSpPr>
            <a:stCxn id="51" idx="6"/>
            <a:endCxn id="52" idx="2"/>
          </p:cNvCxnSpPr>
          <p:nvPr/>
        </p:nvCxnSpPr>
        <p:spPr>
          <a:xfrm rot="10800000">
            <a:off x="540000" y="3447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3" name=""/>
          <p:cNvCxnSpPr>
            <a:stCxn id="54" idx="6"/>
            <a:endCxn id="55" idx="2"/>
          </p:cNvCxnSpPr>
          <p:nvPr/>
        </p:nvCxnSpPr>
        <p:spPr>
          <a:xfrm rot="10800000">
            <a:off x="738720" y="3267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6" name=""/>
          <p:cNvCxnSpPr>
            <a:stCxn id="57" idx="6"/>
            <a:endCxn id="58" idx="2"/>
          </p:cNvCxnSpPr>
          <p:nvPr/>
        </p:nvCxnSpPr>
        <p:spPr>
          <a:xfrm rot="10800000">
            <a:off x="729360" y="3636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9" name=""/>
          <p:cNvCxnSpPr>
            <a:stCxn id="60" idx="6"/>
            <a:endCxn id="61" idx="2"/>
          </p:cNvCxnSpPr>
          <p:nvPr/>
        </p:nvCxnSpPr>
        <p:spPr>
          <a:xfrm rot="10800000">
            <a:off x="873360" y="3852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2" name=""/>
          <p:cNvCxnSpPr>
            <a:stCxn id="63" idx="6"/>
            <a:endCxn id="64" idx="2"/>
          </p:cNvCxnSpPr>
          <p:nvPr/>
        </p:nvCxnSpPr>
        <p:spPr>
          <a:xfrm rot="10800000">
            <a:off x="873360" y="4104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5" name=""/>
          <p:cNvCxnSpPr>
            <a:stCxn id="66" idx="6"/>
            <a:endCxn id="67" idx="2"/>
          </p:cNvCxnSpPr>
          <p:nvPr/>
        </p:nvCxnSpPr>
        <p:spPr>
          <a:xfrm>
            <a:off x="549360" y="4500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8" name=""/>
          <p:cNvCxnSpPr>
            <a:stCxn id="69" idx="6"/>
            <a:endCxn id="70" idx="2"/>
          </p:cNvCxnSpPr>
          <p:nvPr/>
        </p:nvCxnSpPr>
        <p:spPr>
          <a:xfrm>
            <a:off x="729360" y="432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1" name=""/>
          <p:cNvCxnSpPr>
            <a:stCxn id="72" idx="6"/>
            <a:endCxn id="73" idx="2"/>
          </p:cNvCxnSpPr>
          <p:nvPr/>
        </p:nvCxnSpPr>
        <p:spPr>
          <a:xfrm>
            <a:off x="729360" y="468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4" name=""/>
          <p:cNvCxnSpPr>
            <a:stCxn id="75" idx="6"/>
            <a:endCxn id="76" idx="2"/>
          </p:cNvCxnSpPr>
          <p:nvPr/>
        </p:nvCxnSpPr>
        <p:spPr>
          <a:xfrm>
            <a:off x="873360" y="4896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7" name=""/>
          <p:cNvCxnSpPr>
            <a:stCxn id="78" idx="6"/>
            <a:endCxn id="79" idx="2"/>
          </p:cNvCxnSpPr>
          <p:nvPr/>
        </p:nvCxnSpPr>
        <p:spPr>
          <a:xfrm>
            <a:off x="873360" y="5148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0" name=""/>
          <p:cNvCxnSpPr>
            <a:stCxn id="81" idx="6"/>
            <a:endCxn id="82" idx="2"/>
          </p:cNvCxnSpPr>
          <p:nvPr/>
        </p:nvCxnSpPr>
        <p:spPr>
          <a:xfrm rot="10800000">
            <a:off x="549360" y="5544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3" name=""/>
          <p:cNvCxnSpPr>
            <a:stCxn id="84" idx="6"/>
            <a:endCxn id="85" idx="2"/>
          </p:cNvCxnSpPr>
          <p:nvPr/>
        </p:nvCxnSpPr>
        <p:spPr>
          <a:xfrm rot="10800000">
            <a:off x="729360" y="5364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sp>
        <p:nvSpPr>
          <p:cNvPr id="7" name=""/>
          <p:cNvSpPr/>
          <p:nvPr/>
        </p:nvSpPr>
        <p:spPr>
          <a:xfrm>
            <a:off x="1260000" y="21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080000" y="39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080000" y="3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36000" y="612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936000" y="86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1260000" y="126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1080000" y="108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1080000" y="144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 flipH="1">
            <a:off x="936000" y="165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936000" y="1908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260000" y="230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080000" y="212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80000" y="2493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36000" y="2709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936000" y="2961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 flipH="1">
            <a:off x="1260000" y="335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1098720" y="317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1089360" y="354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 flipH="1">
            <a:off x="945360" y="3762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 flipH="1">
            <a:off x="945360" y="401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269360" y="441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089360" y="423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89360" y="459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45360" y="480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45360" y="5058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 flipH="1">
            <a:off x="369360" y="545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H="1">
            <a:off x="549360" y="527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360000" y="21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40000" y="39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40000" y="3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84000" y="612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4000" y="86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>
            <a:off x="360000" y="126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540000" y="108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 flipH="1">
            <a:off x="540000" y="144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 flipH="1">
            <a:off x="684000" y="165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 flipH="1">
            <a:off x="684000" y="1908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60000" y="230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40000" y="212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40000" y="2493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84000" y="2709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4000" y="2961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H="1">
            <a:off x="360000" y="335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H="1">
            <a:off x="558720" y="317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 flipH="1">
            <a:off x="549360" y="354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 flipH="1">
            <a:off x="693360" y="3762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 flipH="1">
            <a:off x="693360" y="401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69360" y="441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49360" y="423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49360" y="459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93360" y="480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93360" y="5058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H="1">
            <a:off x="1269360" y="545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 flipH="1">
            <a:off x="1089360" y="527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www.who.int/emergencies/diseases/novel-coronavirus-2019/technical-guidance/naming-the-coronavirus-disease-(covid-2019)-and-the-virus-that-causes-it" TargetMode="External"/><Relationship Id="rId2" Type="http://schemas.openxmlformats.org/officeDocument/2006/relationships/hyperlink" Target="https://webarchive.nationalarchives.gov.uk/ukgwa/timeline/https://www.nhs.uk/conditions/coronavirus-covid-19/" TargetMode="External"/><Relationship Id="rId3" Type="http://schemas.openxmlformats.org/officeDocument/2006/relationships/hyperlink" Target="https://webarchive.nationalarchives.gov.uk/ukgwa/timeline/https:/www.nhs.uk/conditions/covid-19/" TargetMode="External"/><Relationship Id="rId4" Type="http://schemas.openxmlformats.org/officeDocument/2006/relationships/hyperlink" Target="https://webarchive.nationalarchives.gov.uk/ukgwa/timeline/https://www.nhs.uk/conditions/wuhan-novel-coronavirus/" TargetMode="External"/><Relationship Id="rId5" Type="http://schemas.openxmlformats.org/officeDocument/2006/relationships/hyperlink" Target="https://github.com/yukikof/NA-task-Nov-2025" TargetMode="External"/><Relationship Id="rId6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620000" y="2520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GB" sz="3300" strike="noStrike" u="none">
                <a:solidFill>
                  <a:srgbClr val="050505"/>
                </a:solidFill>
                <a:uFillTx/>
                <a:latin typeface="Times New Roman"/>
              </a:rPr>
              <a:t>Investigating NHS Covid-19 web archives</a:t>
            </a:r>
            <a:endParaRPr b="0" lang="en-GB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035A29-9588-4F5F-BB26-4FDD64ABC276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300" strike="noStrike" u="none">
                <a:solidFill>
                  <a:srgbClr val="050505"/>
                </a:solidFill>
                <a:uFillTx/>
                <a:latin typeface="Times New Roman"/>
              </a:rPr>
              <a:t>Analytical questions</a:t>
            </a:r>
            <a:endParaRPr b="0" lang="en-GB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How do the Covid-19 pages change over time?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What can URL use show about changing language surrounding Covid-19?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How does length change over time?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2E10AF-5A1E-495F-B236-7E9E2066BB2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300" strike="noStrike" u="none">
                <a:solidFill>
                  <a:srgbClr val="050505"/>
                </a:solidFill>
                <a:uFillTx/>
                <a:latin typeface="Times New Roman"/>
              </a:rPr>
              <a:t>Method</a:t>
            </a:r>
            <a:endParaRPr b="0" lang="en-GB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Downloaded archives of 3 NHS conditions urls: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100" strike="noStrike" u="none">
                <a:solidFill>
                  <a:srgbClr val="050505"/>
                </a:solidFill>
                <a:uFillTx/>
                <a:latin typeface="Arial"/>
              </a:rPr>
              <a:t>“</a:t>
            </a:r>
            <a:r>
              <a:rPr b="0" lang="en-GB" sz="2100" strike="noStrike" u="none">
                <a:solidFill>
                  <a:srgbClr val="050505"/>
                </a:solidFill>
                <a:uFillTx/>
                <a:latin typeface="Arial"/>
              </a:rPr>
              <a:t>coronavirus-covid-19”</a:t>
            </a:r>
            <a:endParaRPr b="0" lang="en-GB" sz="21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100" strike="noStrike" u="none">
                <a:solidFill>
                  <a:srgbClr val="050505"/>
                </a:solidFill>
                <a:uFillTx/>
                <a:latin typeface="Arial"/>
              </a:rPr>
              <a:t>“</a:t>
            </a:r>
            <a:r>
              <a:rPr b="0" lang="en-GB" sz="2100" strike="noStrike" u="none">
                <a:solidFill>
                  <a:srgbClr val="050505"/>
                </a:solidFill>
                <a:uFillTx/>
                <a:latin typeface="Arial"/>
              </a:rPr>
              <a:t>covid-19”</a:t>
            </a:r>
            <a:endParaRPr b="0" lang="en-GB" sz="21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100" strike="noStrike" u="none">
                <a:solidFill>
                  <a:srgbClr val="050505"/>
                </a:solidFill>
                <a:uFillTx/>
                <a:latin typeface="Arial"/>
              </a:rPr>
              <a:t>“</a:t>
            </a:r>
            <a:r>
              <a:rPr b="0" lang="en-GB" sz="2100" strike="noStrike" u="none">
                <a:solidFill>
                  <a:srgbClr val="050505"/>
                </a:solidFill>
                <a:uFillTx/>
                <a:latin typeface="Arial"/>
              </a:rPr>
              <a:t>wuhan-novel-coronavirus”</a:t>
            </a:r>
            <a:endParaRPr b="0" lang="en-GB" sz="21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Join queries, create dataframes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Aggregated by timestamp month and mime counts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plot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1980360" y="4384800"/>
            <a:ext cx="7770600" cy="11944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8BBD63-3285-480B-B56B-438648AB97F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300" strike="noStrike" u="none">
                <a:solidFill>
                  <a:srgbClr val="050505"/>
                </a:solidFill>
                <a:uFillTx/>
                <a:latin typeface="Times New Roman"/>
              </a:rPr>
              <a:t>1. How do pages change over time?</a:t>
            </a:r>
            <a:endParaRPr b="0" lang="en-GB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27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text/html mime highest in May 2022 at 422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Changes fall off considerably after that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140000" y="1152360"/>
            <a:ext cx="5875920" cy="38998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A1843E-8529-4C10-B2FA-C780BBC02013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300" strike="noStrike" u="none">
                <a:solidFill>
                  <a:srgbClr val="050505"/>
                </a:solidFill>
                <a:uFillTx/>
                <a:latin typeface="Times New Roman"/>
              </a:rPr>
              <a:t>What can URL use show about changing language towards covid-19?</a:t>
            </a:r>
            <a:endParaRPr b="0" lang="en-GB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480000" y="1368000"/>
            <a:ext cx="324000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mimes split by the 3 different urls in each box.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Bottom (wuhan-novel) has activity at start, but html updates stop on 7</a:t>
            </a:r>
            <a:r>
              <a:rPr b="0" lang="en-GB" sz="2400" strike="noStrike" u="none" baseline="33000">
                <a:solidFill>
                  <a:srgbClr val="050505"/>
                </a:solidFill>
                <a:uFillTx/>
                <a:latin typeface="Arial"/>
              </a:rPr>
              <a:t>th</a:t>
            </a: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 Feb 2020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“</a:t>
            </a: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Covid-19” was coined by WHO on 11 Feb 2020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“</a:t>
            </a: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Coronavirus-covid-19” is used until mid-2022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Shift to covid-19 page in 2023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604800" y="1440000"/>
            <a:ext cx="5695200" cy="378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483C8E-8F5D-45E6-836A-B768FA1BD27E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300" strike="noStrike" u="none">
                <a:solidFill>
                  <a:srgbClr val="050505"/>
                </a:solidFill>
                <a:uFillTx/>
                <a:latin typeface="Times New Roman"/>
              </a:rPr>
              <a:t>3. How does length change over time?</a:t>
            </a:r>
            <a:endParaRPr b="0" lang="en-GB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760000" y="1368000"/>
            <a:ext cx="396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Filtered for “text/html” mime and status 200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length generally consistent around 6000-10,000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Can also see movements to different URLs in this chart, but interestingly there is little overlap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0" y="1080000"/>
            <a:ext cx="5844960" cy="38793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88EE3C-C3BB-4C35-A035-5849A16B293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GB" sz="3300" strike="noStrike" u="none">
                <a:solidFill>
                  <a:srgbClr val="050505"/>
                </a:solidFill>
                <a:uFillTx/>
                <a:latin typeface="Times New Roman"/>
              </a:rPr>
              <a:t>Further steps &amp; resources</a:t>
            </a:r>
            <a:endParaRPr b="0" lang="en-GB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6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Further analysis of text content (webscraping):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100" strike="noStrike" u="none">
                <a:solidFill>
                  <a:srgbClr val="050505"/>
                </a:solidFill>
                <a:uFillTx/>
                <a:latin typeface="Arial"/>
              </a:rPr>
              <a:t>Symptoms known at the time</a:t>
            </a:r>
            <a:endParaRPr b="0" lang="en-GB" sz="21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100" strike="noStrike" u="none">
                <a:solidFill>
                  <a:srgbClr val="050505"/>
                </a:solidFill>
                <a:uFillTx/>
                <a:latin typeface="Arial"/>
              </a:rPr>
              <a:t>Advice given at the time</a:t>
            </a:r>
            <a:endParaRPr b="0" lang="en-GB" sz="21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100" strike="noStrike" u="none">
                <a:solidFill>
                  <a:srgbClr val="050505"/>
                </a:solidFill>
                <a:uFillTx/>
                <a:latin typeface="Arial"/>
              </a:rPr>
              <a:t>Adapting to changing nomenclature</a:t>
            </a:r>
            <a:endParaRPr b="0" lang="en-GB" sz="21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50505"/>
                </a:solidFill>
                <a:uFillTx/>
                <a:latin typeface="Arial"/>
              </a:rPr>
              <a:t>Qualitative comparisons to the archived webpages</a:t>
            </a:r>
            <a:endParaRPr b="0" lang="en-GB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107" name="PlaceHolder 3"/>
          <p:cNvSpPr txBox="1"/>
          <p:nvPr/>
        </p:nvSpPr>
        <p:spPr>
          <a:xfrm>
            <a:off x="5760360" y="1368000"/>
            <a:ext cx="39517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000ee"/>
                </a:solidFill>
                <a:uFillTx/>
                <a:latin typeface="Arial"/>
                <a:hlinkClick r:id="rId1"/>
              </a:rPr>
              <a:t>WHO</a:t>
            </a:r>
            <a:r>
              <a:rPr b="0" lang="en-GB" sz="1600" strike="noStrike" u="none">
                <a:solidFill>
                  <a:srgbClr val="050505"/>
                </a:solidFill>
                <a:uFillTx/>
                <a:latin typeface="Arial"/>
              </a:rPr>
              <a:t>- COVID-19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50505"/>
                </a:solidFill>
                <a:uFillTx/>
                <a:latin typeface="Arial"/>
              </a:rPr>
              <a:t>National Archives – UK Government web archives (</a:t>
            </a:r>
            <a:r>
              <a:rPr b="0" lang="en-GB" sz="1600" strike="noStrike" u="none">
                <a:solidFill>
                  <a:srgbClr val="050505"/>
                </a:solidFill>
                <a:uFillTx/>
                <a:latin typeface="Arial"/>
                <a:hlinkClick r:id="rId2"/>
              </a:rPr>
              <a:t>1</a:t>
            </a:r>
            <a:r>
              <a:rPr b="0" lang="en-GB" sz="1600" strike="noStrike" u="none">
                <a:solidFill>
                  <a:srgbClr val="050505"/>
                </a:solidFill>
                <a:uFillTx/>
                <a:latin typeface="Arial"/>
              </a:rPr>
              <a:t>) (</a:t>
            </a:r>
            <a:r>
              <a:rPr b="0" lang="en-GB" sz="1600" strike="noStrike" u="none">
                <a:solidFill>
                  <a:srgbClr val="050505"/>
                </a:solidFill>
                <a:uFillTx/>
                <a:latin typeface="Arial"/>
                <a:hlinkClick r:id="rId3"/>
              </a:rPr>
              <a:t>2</a:t>
            </a:r>
            <a:r>
              <a:rPr b="0" lang="en-GB" sz="1600" strike="noStrike" u="none">
                <a:solidFill>
                  <a:srgbClr val="050505"/>
                </a:solidFill>
                <a:uFillTx/>
                <a:latin typeface="Arial"/>
              </a:rPr>
              <a:t>) (</a:t>
            </a:r>
            <a:r>
              <a:rPr b="0" lang="en-GB" sz="1600" strike="noStrike" u="none">
                <a:solidFill>
                  <a:srgbClr val="050505"/>
                </a:solidFill>
                <a:uFillTx/>
                <a:latin typeface="Arial"/>
                <a:hlinkClick r:id="rId4"/>
              </a:rPr>
              <a:t>3</a:t>
            </a:r>
            <a:r>
              <a:rPr b="0" lang="en-GB" sz="1600" strike="noStrike" u="none">
                <a:solidFill>
                  <a:srgbClr val="050505"/>
                </a:solidFill>
                <a:uFillTx/>
                <a:latin typeface="Arial"/>
              </a:rPr>
              <a:t>)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>
              <a:lnSpc>
                <a:spcPct val="100000"/>
              </a:lnSpc>
              <a:spcAft>
                <a:spcPts val="1060"/>
              </a:spcAft>
              <a:tabLst>
                <a:tab algn="l" pos="0"/>
              </a:tabLst>
            </a:pPr>
            <a:r>
              <a:rPr b="0" lang="en-GB" sz="16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600" strike="noStrike" u="none">
                <a:solidFill>
                  <a:srgbClr val="0000ee"/>
                </a:solidFill>
                <a:uFillTx/>
                <a:latin typeface="Arial"/>
                <a:hlinkClick r:id="rId5"/>
              </a:rPr>
              <a:t>Github repo</a:t>
            </a:r>
            <a:endParaRPr b="0" lang="en-GB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FED9FE-A158-49B0-AB01-7090839202CE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LibreOffice/24.8.6.1$Windows_X86_64 LibreOffice_project/051bf11303684a0a982c9966e8be766d0a9efbc7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2025-11-06T10:42:36Z</dcterms:created>
  <dc:creator/>
  <dc:description/>
  <dc:language>en-GB</dc:language>
  <cp:lastModifiedBy/>
  <dcterms:modified xsi:type="dcterms:W3CDTF">2025-11-06T11:09:50Z</dcterms:modified>
  <cp:revision>3</cp:revision>
  <dc:subject/>
  <dc:title>DNA</dc:title>
</cp:coreProperties>
</file>